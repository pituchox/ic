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78276" autoAdjust="0"/>
  </p:normalViewPr>
  <p:slideViewPr>
    <p:cSldViewPr snapToGrid="0">
      <p:cViewPr varScale="1">
        <p:scale>
          <a:sx n="77" d="100"/>
          <a:sy n="77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4D172-EA70-4057-BF3D-5E01F4A28767}" type="datetimeFigureOut">
              <a:rPr lang="pt-PT" smtClean="0"/>
              <a:t>16/12/2025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A404A-098D-4584-912C-A7C522E77FE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3201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1008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“Nesta fase do projeto, o objetivo principal é desenvolver o modelo final de classificação recorrendo a aprendizagem por transferência.</a:t>
            </a:r>
          </a:p>
          <a:p>
            <a:r>
              <a:rPr lang="pt-PT" dirty="0"/>
              <a:t>Para isso, focamo-nos na otimização das camadas densas finais do modelo, mantendo a rede base pré-treinada congelada.</a:t>
            </a:r>
          </a:p>
          <a:p>
            <a:r>
              <a:rPr lang="pt-PT" dirty="0"/>
              <a:t>“Nesta fase do projeto, para além dos algoritmos swarm utilizados anteriormente, foi também incluído um método de Random Search.</a:t>
            </a:r>
            <a:br>
              <a:rPr lang="pt-PT" dirty="0"/>
            </a:br>
            <a:r>
              <a:rPr lang="pt-PT" dirty="0"/>
              <a:t>Este método serve como referência, permitindo comparar o desempenho de abordagens baseadas em inteligência coletiva com uma estratégia aleatória de exploração do espaço de hiperparâmetros.”Por fim, o modelo foi validado num conjunto de teste independente e integrado numa aplicação web, permitindo demonstrar o sistema em funcionamento real.”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573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"A metodologia adotada baseia-se na utilização de aprendizagem por transferência (</a:t>
            </a:r>
            <a:r>
              <a:rPr lang="pt-PT" b="1" dirty="0"/>
              <a:t>Transfer Learning</a:t>
            </a:r>
            <a:r>
              <a:rPr lang="pt-PT" dirty="0"/>
              <a:t>). Foi utilizada a arquitetura </a:t>
            </a:r>
            <a:r>
              <a:rPr lang="pt-PT" b="1" dirty="0"/>
              <a:t>MobileNetV2</a:t>
            </a:r>
            <a:r>
              <a:rPr lang="pt-PT" dirty="0"/>
              <a:t>, previamente treinada no conjunto de dados ImageNet, aproveitando a sua capacidade de extração de características visuais (</a:t>
            </a:r>
            <a:r>
              <a:rPr lang="pt-PT" b="1" dirty="0"/>
              <a:t>Feature Extraction</a:t>
            </a:r>
            <a:r>
              <a:rPr lang="pt-PT" dirty="0"/>
              <a:t>). As camadas base do modelo foram mantidas congeladas, sendo adicionada apenas uma rede densa final adaptada ao número de classes do problema. A otimização de hiperparâmetros foi realizada apenas sobre esta rede densa, recorrendo a algoritmos de inteligência coletiva — PSO e WSA — e tambem o Random Search."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5217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“O sistema desenvolvido segue uma arquitetura modular, onde cada etapa do processo de classificação de imagens se encontra bem definida.</a:t>
            </a:r>
          </a:p>
          <a:p>
            <a:r>
              <a:rPr lang="pt-PT" dirty="0"/>
              <a:t>Inicia-se com a aquisição da imagem, seguida do pré-processamento, onde a imagem é redimensionada e normalizada.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De seguida, a imagem é processada pelo modelo de classificação baseado em aprendizagem por transferência, responsável pela previsão da classe.</a:t>
            </a:r>
          </a:p>
          <a:p>
            <a:endParaRPr lang="pt-PT" dirty="0"/>
          </a:p>
          <a:p>
            <a:r>
              <a:rPr lang="pt-PT" dirty="0"/>
              <a:t>O módulo de otimização ajusta os hiperparâmetros das camadas finais.</a:t>
            </a:r>
          </a:p>
          <a:p>
            <a:endParaRPr lang="pt-PT" dirty="0"/>
          </a:p>
          <a:p>
            <a:r>
              <a:rPr lang="pt-PT" dirty="0"/>
              <a:t>Por fim, os resultados são avaliados através de métricas de desempenho, permitindo analisar o comportamento global do sistema.”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918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“O modelo de classificação adotado baseia-se na arquitetura MobileNetV2, uma rede neuronal convolucional pré-treinada no conjunto de dados ImageNet.</a:t>
            </a:r>
          </a:p>
          <a:p>
            <a:r>
              <a:rPr lang="pt-PT" dirty="0"/>
              <a:t>Esta rede é utilizada exclusivamente como extratora de características, sendo a sua camada de classificação original removida. </a:t>
            </a:r>
          </a:p>
          <a:p>
            <a:r>
              <a:rPr lang="pt-PT" dirty="0"/>
              <a:t>Para isso, o modelo foi carregado com o parâmetro include_top definido como falso.</a:t>
            </a:r>
          </a:p>
          <a:p>
            <a:r>
              <a:rPr lang="pt-PT" dirty="0"/>
              <a:t>A rede base permanece congelada durante todo o processo de treino, o que impede a atualização dos seus pesos e reduz significativamente o custo computacional.</a:t>
            </a:r>
          </a:p>
          <a:p>
            <a:r>
              <a:rPr lang="pt-PT" dirty="0"/>
              <a:t>Sobre esta base foram adicionadas camadas finais responsáveis pela adaptação ao problema, incluindo uma camada de Global Average Pooling, uma camada densa com ativação ReLU, uma camada de Dropout e uma camada de saída Softmax correspondente às classes do problema.”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9464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“A aplicação web foi desenvolvida com o objetivo de demonstrar o sistema em funcionamento real, conforme solicitado no enunciado.</a:t>
            </a:r>
          </a:p>
          <a:p>
            <a:r>
              <a:rPr lang="pt-PT" dirty="0"/>
              <a:t>O utilizador pode fornecer uma imagem através de upload ou utilizando a câmara, sendo essa imagem automaticamente pré-processada para o formato exigido pelo modelo.</a:t>
            </a:r>
          </a:p>
          <a:p>
            <a:r>
              <a:rPr lang="pt-PT" dirty="0"/>
              <a:t>O modelo treinado é carregado a partir de um ficheiro previamente guardado, garantindo a persistência do modelo.</a:t>
            </a:r>
          </a:p>
          <a:p>
            <a:r>
              <a:rPr lang="pt-PT" dirty="0"/>
              <a:t>Após a classificação, a aplicação apresenta a classe prevista e o respetivo nível de confiança, permitindo uma interação simples e intuitiva.”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7235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“Nesta fase do trabalho, a implementação foi organizada de forma modular, de modo a separar claramente as diferentes etapas do processo de classificação de imagens.</a:t>
            </a:r>
          </a:p>
          <a:p>
            <a:r>
              <a:rPr lang="pt-PT" dirty="0"/>
              <a:t>O código inclui desde a preparação e balanceamento do conjunto de dados até à definição do modelo por aprendizagem por transferência.</a:t>
            </a:r>
          </a:p>
          <a:p>
            <a:r>
              <a:rPr lang="pt-PT" dirty="0"/>
              <a:t>Durante a otimização dos hiperparâmetros, a função de fitness foi avaliada utilizando subconjuntos fixos dos dados de treino e validação.</a:t>
            </a:r>
            <a:br>
              <a:rPr lang="pt-PT" dirty="0"/>
            </a:br>
            <a:r>
              <a:rPr lang="pt-PT" dirty="0"/>
              <a:t>Esta estratégia foi adotada para reduzir o custo computacional e garantir consistência na comparação entre diferentes configurações de hiperparâmetros, visto que as execuçoes estavam a demorar muitas horas, evitando variações aleatórias nos resultados.”Para além disso, integra também a otimização dos hiperparâmetros e a avaliação final do modelo.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7060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“Relativamente à otimização, foram utilizados dois algoritmos swarm, o PSO e o WSA e o random search, para ajustar apenas os hiperparâmetros das camadas densas finais do modelo.</a:t>
            </a:r>
          </a:p>
          <a:p>
            <a:r>
              <a:rPr lang="pt-PT" dirty="0"/>
              <a:t>Os hiperparâmetros considerados foram o número de neurónios da camada totalmente ligada e a taxa de aprendizagem do otimizador.</a:t>
            </a:r>
          </a:p>
          <a:p>
            <a:r>
              <a:rPr lang="pt-PT" dirty="0"/>
              <a:t>Para reduzir o custo computacional, cada configuração foi avaliada com um número reduzido de épocas e utilizando subconjuntos dos dados.</a:t>
            </a:r>
          </a:p>
          <a:p>
            <a:r>
              <a:rPr lang="pt-PT" dirty="0"/>
              <a:t>No final, a melhor configuração encontrada foi selecionada e utilizada para treinar o modelo final, que depois foi avaliado em dados independentes.”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9151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7327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Esta avaliação foi realizada num conjunto de dados completamente independente, que não participou em nenhuma fase do treino ou validação.</a:t>
            </a:r>
            <a:br>
              <a:rPr lang="pt-PT" dirty="0"/>
            </a:br>
            <a:r>
              <a:rPr lang="pt-PT" dirty="0"/>
              <a:t>A matriz de confusão mostra que o modelo classifica corretamente praticamente todas as imagens.</a:t>
            </a:r>
            <a:br>
              <a:rPr lang="pt-PT" dirty="0"/>
            </a:br>
            <a:r>
              <a:rPr lang="pt-PT" dirty="0"/>
              <a:t>As métricas de precisão, recall e F1-score apresentam valores elevados</a:t>
            </a:r>
          </a:p>
          <a:p>
            <a:r>
              <a:rPr lang="pt-PT" dirty="0"/>
              <a:t>Os resultados próximos de 100% devem-se, em grande parte, à utilização de aprendizagem por transferência, que permite obter representações visuais robustas mesmo com um número moderado de exemplos.res próximos de 100% em todas as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3187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Neste teste avaliou-se o desempenho do modelo utilizando diferentes percentagens do conjunto de treino, mantendo o conjunto de teste fixo.</a:t>
            </a:r>
          </a:p>
          <a:p>
            <a:r>
              <a:rPr lang="pt-PT" dirty="0"/>
              <a:t>Observa-se que mesmo com apenas 25% dos dados de treino o modelo mantém uma accuracy muito elevada, próxima da obtida com o conjunto completo.</a:t>
            </a:r>
          </a:p>
          <a:p>
            <a:r>
              <a:rPr lang="pt-PT" dirty="0"/>
              <a:t>Este comportamento deve-se ao uso de aprendizagem por transferência, uma vez que a MobileNetV2 já possui representações visuais aprendidas previamente no ImageNet, sendo necessário apenas ajustar as camadas densas finais.</a:t>
            </a:r>
          </a:p>
          <a:p>
            <a:r>
              <a:rPr lang="pt-PT" dirty="0"/>
              <a:t>A partir de cerca de 50% dos dados, o desempenho estabiliza, indicando que o modelo já generaliza corretamente.</a:t>
            </a:r>
          </a:p>
          <a:p>
            <a:r>
              <a:rPr lang="pt-PT" dirty="0"/>
              <a:t>Este resultado é particularmente relevante em cenários reais, onde a disponibilidade de dados anotados pode ser limitada.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7329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Em conclusão, foi desenvolvido um sistema completo de classificação de imagens baseado em aprendizagem por transferência, recorrendo à arquitetura MobileNetV2 pré-treinada.</a:t>
            </a:r>
          </a:p>
          <a:p>
            <a:r>
              <a:rPr lang="pt-PT" dirty="0"/>
              <a:t>A otimização dos hiperparâmetros incidiu exclusivamente sobre as camadas densas finais, tendo sido comparados algoritmos de inteligência coletiva — PSO e WSA — com um método de Random Search como abordagem de referência.</a:t>
            </a:r>
          </a:p>
          <a:p>
            <a:r>
              <a:rPr lang="pt-PT" dirty="0"/>
              <a:t>Os resultados demonstraram que o Whale Swarm Algorithm apresentou a melhor accuracy de validação, sendo automaticamente selecionado para o treino final do modelo.</a:t>
            </a:r>
          </a:p>
          <a:p>
            <a:r>
              <a:rPr lang="pt-PT" dirty="0"/>
              <a:t>A análise do impacto do tamanho do conjunto de treino confirmou que o modelo mantém um desempenho elevado mesmo com menos dados, evidenciando a eficácia da aprendizagem por transferência.</a:t>
            </a:r>
          </a:p>
          <a:p>
            <a:r>
              <a:rPr lang="pt-PT" dirty="0"/>
              <a:t>Por fim, a integração do modelo numa aplicação web permitiu demonstrar o seu funcionamento em ambiente real, cumprindo todos os objetivos definidos no enunciado.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A404A-098D-4584-912C-A7C522E77FED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151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1FA2-3195-4DB6-96F9-4C7A8063EBD5}" type="datetime1">
              <a:rPr lang="pt-PT" smtClean="0"/>
              <a:t>16/12/2025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20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C3B78-A41A-4366-A181-0F6F5E349F80}" type="datetime1">
              <a:rPr lang="pt-PT" smtClean="0"/>
              <a:t>16/12/2025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721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51FF-730D-4465-8BFC-FBCC0203F973}" type="datetime1">
              <a:rPr lang="pt-PT" smtClean="0"/>
              <a:t>16/12/2025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95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2D12-BB05-495B-AF33-2FB12C8A8C03}" type="datetime1">
              <a:rPr lang="pt-PT" smtClean="0"/>
              <a:t>16/12/2025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77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B24E-FC37-42D8-969B-B0211DA791A1}" type="datetime1">
              <a:rPr lang="pt-PT" smtClean="0"/>
              <a:t>16/12/2025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5660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A99B-61DA-4F45-A385-7BF82A230310}" type="datetime1">
              <a:rPr lang="pt-PT" smtClean="0"/>
              <a:t>16/12/2025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426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A8264-6DD6-42FB-BB84-BC28CF2778B8}" type="datetime1">
              <a:rPr lang="pt-PT" smtClean="0"/>
              <a:t>16/12/2025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090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FB3C86B-621D-4324-BAAE-35B4E77939B4}" type="datetime1">
              <a:rPr lang="pt-PT" smtClean="0"/>
              <a:t>16/12/2025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454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643BA-A07D-4D9F-8500-3305164B6E6B}" type="datetime1">
              <a:rPr lang="pt-PT" smtClean="0"/>
              <a:t>16/12/2025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044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1331-15F2-4AE8-A25A-63EDCB8E17FA}" type="datetime1">
              <a:rPr lang="pt-PT" smtClean="0"/>
              <a:t>16/12/2025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238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CD3E-F18B-420D-A359-77507106660D}" type="datetime1">
              <a:rPr lang="pt-PT" smtClean="0"/>
              <a:t>16/12/2025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730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C11CCC6-27E6-4690-87AA-A429D783E2C4}" type="datetime1">
              <a:rPr lang="pt-PT" smtClean="0"/>
              <a:t>16/12/2025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FD8B7B-9D56-4479-852C-B3CF388173AD}" type="slidenum">
              <a:rPr lang="pt-PT" smtClean="0"/>
              <a:t>‹#›</a:t>
            </a:fld>
            <a:endParaRPr lang="pt-P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48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83B5-8510-1CDC-0539-B598F7945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PT" sz="7200" dirty="0"/>
              <a:t>Inteligência Computacional</a:t>
            </a:r>
            <a:br>
              <a:rPr lang="pt-PT" sz="7200" dirty="0"/>
            </a:br>
            <a:r>
              <a:rPr lang="pt-PT" sz="5400" dirty="0"/>
              <a:t>P</a:t>
            </a:r>
            <a:r>
              <a:rPr lang="pt-PT" sz="4400" dirty="0"/>
              <a:t>rojeto Fase III</a:t>
            </a:r>
            <a:endParaRPr lang="pt-PT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0E7B9-4362-7CF7-4703-6682187F7D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JOÃO OLIVEIRA Nº2023144718</a:t>
            </a:r>
          </a:p>
          <a:p>
            <a:r>
              <a:rPr lang="pt-PT" dirty="0"/>
              <a:t>DIOGO FERREIRA Nº2023141377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1CA92-483C-E587-7258-1F234755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222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138F8-D7BE-2A30-A57B-27524415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Descrição do Problema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2746D-D432-660E-6901-901374388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classificação automática de imagens é um problema central em diversas aplicações de visão por computador, exigindo modelos capazes de extrair características relevantes e generalizar para novos exemplos. </a:t>
            </a:r>
          </a:p>
          <a:p>
            <a:r>
              <a:rPr lang="pt-PT" dirty="0"/>
              <a:t>Neste trabalho pretende-se desenvolver um sistema de classificação de imagens robusto, aplicado a um conjunto de dados composto por cinco classes distintas, dando continuidade às fases anteriores do projeto, recorrendo agora a técnicas de aprendizagem por transferência.</a:t>
            </a:r>
          </a:p>
          <a:p>
            <a:r>
              <a:rPr lang="pt-PT" dirty="0"/>
              <a:t>Nesta fase, para além dos algoritmos swarm utilizados anteriormente, foi também incluído um método de Random Search como abordagem de referência.</a:t>
            </a:r>
            <a:br>
              <a:rPr lang="pt-PT" dirty="0"/>
            </a:br>
            <a:r>
              <a:rPr lang="pt-PT" dirty="0"/>
              <a:t>Esta comparação permite avaliar a vantagem de métodos de inteligência coletiva face a uma pesquisa aleatória.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D334F-A49A-C675-6006-0257A2A4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27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0016-23A9-AA4B-C390-1DE649FA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3A356-AAD6-C685-67BA-04CD1DEF6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fase III do projeto tem como principal objetivo a construção de um modelo final de classificação de imagens recorrendo a aprendizagem por transferência. </a:t>
            </a:r>
          </a:p>
          <a:p>
            <a:r>
              <a:rPr lang="pt-PT" dirty="0"/>
              <a:t>Pretende-se otimizar apenas as camadas densas finais do modelo, comparar diferentes métodos de otimização de hiperparâmetros e analisar o impacto do número de instâncias de treino no desempenho do classificador.</a:t>
            </a:r>
          </a:p>
          <a:p>
            <a:r>
              <a:rPr lang="pt-PT" dirty="0"/>
              <a:t>Adicionalmente, procura-se validar o modelo em dados independentes e demonstrar o seu funcionamento em ambiente real através de uma aplicação web.</a:t>
            </a:r>
          </a:p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366EF-C5DE-955A-BF66-EE1FAB45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319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180DD-D3D2-233F-189E-2133920E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Descrição das Metodologias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D42D3-A357-CC88-956D-0FA399D17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Para a resolução do problema foi adotada uma abordagem baseada em aprendizagem por transferência, recorrendo a uma rede neuronal convolucional pré-treinada. </a:t>
            </a:r>
          </a:p>
          <a:p>
            <a:r>
              <a:rPr lang="pt-PT" dirty="0"/>
              <a:t>A arquitetura MobileNetV2 foi utilizada como extratora de características, mantendo as suas camadas base congeladas e adicionando uma rede densa final adaptada ao problema em estudo.</a:t>
            </a:r>
          </a:p>
          <a:p>
            <a:r>
              <a:rPr lang="pt-PT" dirty="0"/>
              <a:t>A otimização dos hiperparâmetros foi realizada exclusivamente nas camadas densas finais, utilizando algoritmos de inteligência coletiva, nomeadamente o Particle Swarm Optimization (PSO), o Whale Swarm Algorithm (WSA) e um método de Random Search.</a:t>
            </a:r>
          </a:p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2106A-4360-496A-0E8E-A4960B2E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113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F3F4-BE38-9D9F-4099-11965815F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Geral do Codigo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6078F-5E47-6F60-8EFF-11284FDF8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arquitetura do código foi concebida de forma modular e sequencial, permitindo separar claramente as diferentes fases do processo de classificação de imagens. Esta organização garante uma correspondência direta entre a implementação e as etapas metodológicas definidas no projeto, facilitando a integração do modelo treinado em aplicações futuras.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Aquisição das imagem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Pré-processamento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Modelo de classificação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Módulo de otimização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Avaliação e resultados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64D1B-B0BD-6AF1-7BD1-650334BC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3638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1860-3EEE-9ADB-09F6-FAA471C5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do Modelo de Classificação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83E6F-C4E2-4BB6-CA77-4ACD3B63B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O modelo de classificação adotado baseia-se numa rede neuronal convolucional pré-treinada, utilizada como extratora de características. Esta abordagem permite reaproveitar representações visuais aprendidas previamente, reduzindo o custo computacional e melhorando a capacidade de generalização do modelo.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Arquitetura base: MobileNetV2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Modelo pré-treinado no ImageNet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Rede base utilizada apenas para extração de características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Camadas finais adaptadas ao problema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Classificação em cinco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4AC4A-1F53-FA48-D5DE-45F09569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662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8723-9036-21C6-05D7-FAE8E900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da Aplicação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C5E29-F4E6-24DE-07E4-5DF78EF6B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aplicação web desenvolvida tem como objetivo demonstrar o funcionamento do sistema de classificação em ambiente real. Esta aplicação permite ao utilizador fornecer novas imagens e obter, em tempo real, a respetiva classificação recorrendo ao modelo previamente treinado e persistido.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Implementada com o framework Streamlit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Entrada de imagem por upload ou câmara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Pré-processamento automático das imagens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Utilização do modelo treinado e guardado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Apresentação da classe prevista e nível de confiança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D8028-AC99-23A3-C1BE-9B22B392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5390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CCFA-A774-7C5E-179A-EBF4D78B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Implementação dos Algoritmos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A5F3A-4581-FE30-EEAC-409B778CE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implementação dos algoritmos foi realizada de forma modular, permitindo integrar a aprendizagem por transferência com a otimização de hiperparâmetros através de algoritmos swarm.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Preparação e balanceamento do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Modelo por transferência de aprendizagem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Avaliação com subconjuntos fixos de treino e validação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Otimização com PSO e WSA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Treino final e avaliação</a:t>
            </a:r>
          </a:p>
          <a:p>
            <a:pPr>
              <a:buFont typeface="Arial" panose="020B0604020202020204" pitchFamily="34" charset="0"/>
              <a:buChar char="•"/>
            </a:pPr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A82D2-7EF3-1027-41CB-36FF39C9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937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8272-B664-B1F3-2F45-78A568EC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Otimização e Treino do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9B7CB-9A84-C5BD-844C-9B25EE06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otimização dos hiperparâmetros incidiu exclusivamente sobre as camadas densas finais do modelo, recorrendo a algoritmos swarm e Random Search para maximizar a accuracy de validação.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Algoritmos: PSO, WSA e random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Hiperparâmetros: Número de neurónios, Taxa de aprendizagem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 Seleção baseada na accuracy de validação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95277-8CBE-3EF3-8BA4-37C80379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770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BAB9-A83C-EABE-FFAA-123A9196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pt-PT" sz="4000" dirty="0"/>
              <a:t>Resultados da Otimização dos Hiperparâmetros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2E6E2-3C96-04CD-7A77-AD2C7A3B7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Procedeu-se à otimização dos hiperparâmetros da rede densa das camadas finais do modelo recorrendo a PSO, WSA e random search. Observa-se que, entre os métodos testados, o WSA apresentou o melhor desempenho em termos de accuracy de validação neste cenário.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88116-E455-46B2-682D-004E99F52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10</a:t>
            </a:fld>
            <a:endParaRPr lang="pt-PT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D58458-BD4D-2DF7-9A8A-2C478A3E5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69845"/>
              </p:ext>
            </p:extLst>
          </p:nvPr>
        </p:nvGraphicFramePr>
        <p:xfrm>
          <a:off x="1097280" y="3244439"/>
          <a:ext cx="10058400" cy="14630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36227435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7033285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13172511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178464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Algoritmo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Neurónios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Learning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Val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877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PSO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512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0.000297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0.52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4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WSA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283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0.001204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0.68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573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Random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159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/>
                        <a:t>0.00274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PT" dirty="0"/>
                        <a:t>0.54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86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13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4F9E-441E-EB4E-5C3D-01ECDB27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Avaliação Final no Conjunto de Teste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85C3-E3B5-5970-DCF0-8A9F4EC8C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O modelo final foi avaliado num conjunto de teste independente. As métricas de classificação e a matriz de confusão demonstram um desempenho muito elevado em todas as classes, sem confusões significativas.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29F6D-1896-59BD-758C-A6C6364A4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180" y="3443015"/>
            <a:ext cx="3957320" cy="173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27887-C962-9FCC-47A5-E20FAD233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397" y="2895599"/>
            <a:ext cx="3245803" cy="282927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2AEE2-D677-EBD4-2455-FE1253CA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0249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C9B1-BA60-129D-46B6-3D08CAF5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4400" dirty="0"/>
              <a:t>Impacto do Tamanho do Conjunto de Treino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FC0C0-F01D-E02D-E7CD-90F96FB2B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Foi analisado o impacto do tamanho do conjunto de treino no desempenho do modelo final.</a:t>
            </a:r>
            <a:br>
              <a:rPr lang="pt-PT" dirty="0"/>
            </a:br>
            <a:r>
              <a:rPr lang="pt-PT" dirty="0"/>
              <a:t>Os resultados mostram que a aprendizagem por transferência permite alcançar valores de accuracy elevados mesmo com uma fração reduzida dos dados de treino.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BD14C-3004-564B-4B0B-16BC11340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823" y="3036981"/>
            <a:ext cx="3856990" cy="26911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68EC6-20C6-B291-D878-38C5D915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12</a:t>
            </a:fld>
            <a:endParaRPr lang="pt-PT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21E7E9-295C-0351-1AEC-1D3BBA9C3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586872"/>
              </p:ext>
            </p:extLst>
          </p:nvPr>
        </p:nvGraphicFramePr>
        <p:xfrm>
          <a:off x="6361356" y="3275480"/>
          <a:ext cx="3856990" cy="1468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6879">
                  <a:extLst>
                    <a:ext uri="{9D8B030D-6E8A-4147-A177-3AD203B41FA5}">
                      <a16:colId xmlns:a16="http://schemas.microsoft.com/office/drawing/2014/main" val="113350265"/>
                    </a:ext>
                  </a:extLst>
                </a:gridCol>
                <a:gridCol w="2150111">
                  <a:extLst>
                    <a:ext uri="{9D8B030D-6E8A-4147-A177-3AD203B41FA5}">
                      <a16:colId xmlns:a16="http://schemas.microsoft.com/office/drawing/2014/main" val="862289217"/>
                    </a:ext>
                  </a:extLst>
                </a:gridCol>
              </a:tblGrid>
              <a:tr h="29372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PT" sz="1100" u="none" strike="noStrike">
                          <a:effectLst/>
                        </a:rPr>
                        <a:t>Percentagem_Treino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PT" sz="1100" u="none" strike="noStrike">
                          <a:effectLst/>
                        </a:rPr>
                        <a:t>Accuracy_Teste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254153413"/>
                  </a:ext>
                </a:extLst>
              </a:tr>
              <a:tr h="293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 dirty="0">
                          <a:effectLst/>
                        </a:rPr>
                        <a:t>0,25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 dirty="0">
                          <a:effectLst/>
                        </a:rPr>
                        <a:t>0,997048378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9172865"/>
                  </a:ext>
                </a:extLst>
              </a:tr>
              <a:tr h="293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>
                          <a:effectLst/>
                        </a:rPr>
                        <a:t>0,5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 dirty="0">
                          <a:effectLst/>
                        </a:rPr>
                        <a:t>0,997638702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2634933"/>
                  </a:ext>
                </a:extLst>
              </a:tr>
              <a:tr h="293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>
                          <a:effectLst/>
                        </a:rPr>
                        <a:t>0,75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 dirty="0">
                          <a:effectLst/>
                        </a:rPr>
                        <a:t>0,998819351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8302378"/>
                  </a:ext>
                </a:extLst>
              </a:tr>
              <a:tr h="293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>
                          <a:effectLst/>
                        </a:rPr>
                        <a:t>1</a:t>
                      </a:r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100" u="none" strike="noStrike" dirty="0">
                          <a:effectLst/>
                        </a:rPr>
                        <a:t>0,997048378</a:t>
                      </a:r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4552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342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E74D-206E-2576-9109-9081C597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85001-2274-CDC1-BC0B-B51BB165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Neste trabalho foi desenvolvido um sistema de classificação de imagens baseado em aprendizagem por transferência, recorrendo a uma rede neuronal convolucional pré-treinada.</a:t>
            </a:r>
            <a:br>
              <a:rPr lang="pt-PT" dirty="0"/>
            </a:br>
            <a:endParaRPr lang="pt-PT" dirty="0"/>
          </a:p>
          <a:p>
            <a:r>
              <a:rPr lang="pt-PT" dirty="0"/>
              <a:t>A otimização dos hiperparâmetros das camadas densas finais permitiu melhorar o desempenho do modelo, tendo sido obtidos resultados muito elevados no conjunto de teste.</a:t>
            </a:r>
          </a:p>
          <a:p>
            <a:r>
              <a:rPr lang="pt-PT" dirty="0"/>
              <a:t>Os algoritmos baseados em inteligência coletiva demonstraram desempenho superior ao método de Random Search, validando a sua eficácia na otimização de hiperparâmetros.</a:t>
            </a:r>
          </a:p>
          <a:p>
            <a:br>
              <a:rPr lang="pt-PT" dirty="0"/>
            </a:br>
            <a:r>
              <a:rPr lang="pt-PT" dirty="0"/>
              <a:t>A integração do modelo numa aplicação web demonstra a sua aplicabilidade em ambiente real, cumprindo os objetivos definidos no enunciado.</a:t>
            </a:r>
          </a:p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10407-440E-9BB5-1B07-188C900C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D8B7B-9D56-4479-852C-B3CF388173AD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452125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300</TotalTime>
  <Words>2066</Words>
  <Application>Microsoft Office PowerPoint</Application>
  <PresentationFormat>Widescreen</PresentationFormat>
  <Paragraphs>151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Inteligência Computacional Projeto Fase III</vt:lpstr>
      <vt:lpstr>Descrição do Problema</vt:lpstr>
      <vt:lpstr>Objetivos</vt:lpstr>
      <vt:lpstr>Descrição das Metodologias</vt:lpstr>
      <vt:lpstr>Arquitetura Geral do Codigo</vt:lpstr>
      <vt:lpstr>Arquitetura do Modelo de Classificação</vt:lpstr>
      <vt:lpstr>Arquitetura da Aplicação Web</vt:lpstr>
      <vt:lpstr>Implementação dos Algoritmos</vt:lpstr>
      <vt:lpstr>Otimização e Treino do Modelo</vt:lpstr>
      <vt:lpstr>Resultados da Otimização dos Hiperparâmetros</vt:lpstr>
      <vt:lpstr>Avaliação Final no Conjunto de Teste</vt:lpstr>
      <vt:lpstr>Impacto do Tamanho do Conjunto de Treino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oliveira</dc:creator>
  <cp:lastModifiedBy>joao oliveira</cp:lastModifiedBy>
  <cp:revision>9</cp:revision>
  <dcterms:created xsi:type="dcterms:W3CDTF">2025-12-14T22:31:05Z</dcterms:created>
  <dcterms:modified xsi:type="dcterms:W3CDTF">2025-12-16T19:12:26Z</dcterms:modified>
</cp:coreProperties>
</file>